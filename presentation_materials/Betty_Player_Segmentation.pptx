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E228C9-BF7B-47A0-B8BF-C07C5BED2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1BF64-7D64-4C3D-B731-D2C9059F85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8225E6-8A02-46F3-BF94-F0F6B4C7AD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87047-091F-4C52-B5B9-16099AFE53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4456E-EBA6-43AE-9776-2FA111657C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2B1C9A-D2CD-4706-B246-122013B64E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06CB56-F5E0-46BE-8550-DDABB9F983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CE8533-E5BB-49E8-8696-60A1CA3C59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00F9A-246B-4499-B6D5-286F9D7C58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B897F8-1C74-4E51-9E5E-3B2D65114E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6A0E12-77FF-45FC-8FDE-C39BB72317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AC19B-D2A2-4540-A03C-DAE4D9FFDE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1D5FA2F-394E-4ADD-B3CF-398CABDA477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2148840"/>
            <a:ext cx="12191400" cy="7272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914400" y="2331720"/>
            <a:ext cx="10332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5400" spc="-1" strike="noStrike">
                <a:solidFill>
                  <a:srgbClr val="1f3864"/>
                </a:solidFill>
                <a:latin typeface="Calibri"/>
              </a:rPr>
              <a:t>Understanding Players</a:t>
            </a:r>
            <a:endParaRPr b="0" lang="en-GB" sz="5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914400" y="3291840"/>
            <a:ext cx="103323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262626"/>
                </a:solidFill>
                <a:latin typeface="Calibri"/>
              </a:rPr>
              <a:t>Raw player data to six actionable segments</a:t>
            </a:r>
            <a:endParaRPr b="0" lang="en-GB" sz="22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14400" y="4480560"/>
            <a:ext cx="10332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8a8a8a"/>
                </a:solidFill>
                <a:latin typeface="Calibri"/>
              </a:rPr>
              <a:t>For technical and non-technical audiences  ·  product, marketing &amp; business view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914400" y="6035040"/>
            <a:ext cx="10332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a8a8a"/>
                </a:solidFill>
                <a:latin typeface="Calibri"/>
              </a:rPr>
              <a:t>Betty  ·  100,000 player records  ·  snapshot 2025-11-13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Executive summary: what we found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48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TL;DR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457200" y="1234440"/>
            <a:ext cx="11246760" cy="272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100,000 player records were explored; 59,922 had full, meaningful activity data and were profiled in detail.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They split into 6 clearly different segments – customers who deserve different treatment.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bf8f00"/>
                </a:solidFill>
                <a:latin typeface="Calibri"/>
              </a:rPr>
              <a:t>Whales (18% of players) generate ~90% of gross gaming revenue – protecting them is priority #1.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bf8f00"/>
                </a:solidFill>
                <a:latin typeface="Calibri"/>
              </a:rPr>
              <a:t>Some players cost money: Net-Loss Gamers (~14%) produce negative GGR, and bonus abuse concentrates in them and in Dormant accounts.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The smallest spenders are proportionally the most profitable (best GGR per deposited dollar).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	</a:t>
            </a: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i.e. relative to how little they put in, the operator keeps the highest share of their money.</a:t>
            </a:r>
            <a:endParaRPr b="0" lang="en-GB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6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62626"/>
                </a:solidFill>
                <a:latin typeface="Calibri"/>
              </a:rPr>
              <a:t>Recommendation – protect the whales, restrict the loss-makers, grow the healthy core, convert the slow ones.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The question – and the path to an answer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53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Roadmap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457200" y="1188720"/>
            <a:ext cx="539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f3864"/>
                </a:solidFill>
                <a:latin typeface="Calibri"/>
              </a:rPr>
              <a:t>The business question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457200" y="1600200"/>
            <a:ext cx="539460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262626"/>
                </a:solidFill>
                <a:latin typeface="Calibri"/>
              </a:rPr>
              <a:t>Are all players the same? Do different players behave differently – and if so, should we talk to them, reward them and manage risk for them differently?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57" name="TextBox 7"/>
          <p:cNvSpPr/>
          <p:nvPr/>
        </p:nvSpPr>
        <p:spPr>
          <a:xfrm>
            <a:off x="457200" y="3200400"/>
            <a:ext cx="5394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a8a8a"/>
                </a:solidFill>
                <a:latin typeface="Calibri"/>
              </a:rPr>
              <a:t>The task: let the data answer.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8a8a8a"/>
                </a:solidFill>
                <a:latin typeface="Calibri"/>
              </a:rPr>
              <a:t>Approach: Group players who behave alike, then translate each group into actions – for product, for marketing, and for the business.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58" name="Rectangle 8"/>
          <p:cNvSpPr/>
          <p:nvPr/>
        </p:nvSpPr>
        <p:spPr>
          <a:xfrm>
            <a:off x="6172200" y="1188720"/>
            <a:ext cx="5577480" cy="498312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9"/>
          <p:cNvSpPr/>
          <p:nvPr/>
        </p:nvSpPr>
        <p:spPr>
          <a:xfrm>
            <a:off x="6355080" y="1325880"/>
            <a:ext cx="5211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f3864"/>
                </a:solidFill>
                <a:latin typeface="Calibri"/>
              </a:rPr>
              <a:t>The data science cycle, in plain language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6355080" y="1783080"/>
            <a:ext cx="5211720" cy="23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1.  Understand the data – what do we have, what is missing?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2.  Build meaningful measurements – features that capture real behaviour.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3.  Shape the numbers – make huge and tiny values comparable fairly.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4.  Group similar players – clustering (K-Means and friends).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5.  Check the groups are solid – metrics + reproducibility.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6.  Turn groups into actions – segment profiles, differentiation, recommendations.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61" name="TextBox 11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62" name="TextBox 12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3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1 · Understand the data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The Data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457200" y="1188720"/>
            <a:ext cx="5851800" cy="20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100,000 player accounts × 77 attributes: account details, marketing/UTM, KYC &amp; compliance, responsible-gambling flags, and money activity.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Snapshot date 2025-11-13 – every “lifetime” number is measured up to this point.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Most players are in Canada; core activity fields (deposits, withdrawals, bets, wins, logins) are reliable for ~60% of profiles (missing data).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Plain-language view: one giant loyalty-card ledger – sign-up, marketing source, risk flags, and who spent/cashed out what.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68" name="Rectangle 6"/>
          <p:cNvSpPr/>
          <p:nvPr/>
        </p:nvSpPr>
        <p:spPr>
          <a:xfrm>
            <a:off x="6583680" y="1188720"/>
            <a:ext cx="5120280" cy="4937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7"/>
          <p:cNvSpPr/>
          <p:nvPr/>
        </p:nvSpPr>
        <p:spPr>
          <a:xfrm>
            <a:off x="6766560" y="132588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Technical snapshot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6766560" y="1737360"/>
            <a:ext cx="4754520" cy="18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Source: Data Science Task Data.xlsx - Result 1.csv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REFERENCE_DATE = max(loaded_at) = 2025-11-13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Money &amp; frequency fields heavily right-skewed (Fisher skew 7–50)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Several alias / near-duplicate columns (e.g. login_rate vs login_frequency) collapsed in EDA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marketing_network column is 100% empty → excluded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Nullable flags: unrecorded ≠ False (NaN kept, never imputed)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4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1 (deep dive) · Exploring the data (EDA)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The Data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457200" y="1188720"/>
            <a:ext cx="5851800" cy="26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Goal: know the data before modelling – quality, gaps, and how each number behaves.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Big finding: a handful of players dominate spending – think “0.1% of whales, a long tail…”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Missingness matters: many risk/abuse booleans were simply never recorded – that is “unknown”, not “no”.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Demographics are weak differentiators (almost everyone Canadian, no meaningful age/income split).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Key</a:t>
            </a: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Lesson: behaviour (who spends, who logs in, who withdraws) drives segmentation, not demographics.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6583680" y="1188720"/>
            <a:ext cx="5120280" cy="4937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7"/>
          <p:cNvSpPr/>
          <p:nvPr/>
        </p:nvSpPr>
        <p:spPr>
          <a:xfrm>
            <a:off x="6766560" y="132588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Technical snapshot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6766560" y="1737360"/>
            <a:ext cx="4754520" cy="18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Univariate + completeness audits per column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GAIN from explicit data-type audit: dates normalized, aliases merged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House-edge sanity check: mean GGR / mean bets ≈ 5.2% (slot economics)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0.03% implausible birth years (e.g. 0196) → age clipped to [18,100]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43 derived features documented (feature_dictionary.csv)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Enumeration of KYC, RG, bonus-abuse flag coverage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5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2 · Build meaningful measurements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457200" y="1143000"/>
            <a:ext cx="11246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Raw columns were turned into a compact set of measurements, each with a real business meaning. Ten were chosen for clustering – covering life cycle, engagement and value.</a:t>
            </a:r>
            <a:endParaRPr b="0" lang="en-GB" sz="1400" spc="-1" strike="noStrike">
              <a:latin typeface="Arial"/>
            </a:endParaRPr>
          </a:p>
        </p:txBody>
      </p:sp>
      <p:graphicFrame>
        <p:nvGraphicFramePr>
          <p:cNvPr id="88" name="Table 6"/>
          <p:cNvGraphicFramePr/>
          <p:nvPr/>
        </p:nvGraphicFramePr>
        <p:xfrm>
          <a:off x="457200" y="1920240"/>
          <a:ext cx="7223400" cy="2907360"/>
        </p:xfrm>
        <a:graphic>
          <a:graphicData uri="http://schemas.openxmlformats.org/drawingml/2006/table">
            <a:tbl>
              <a:tblPr/>
              <a:tblGrid>
                <a:gridCol w="2549520"/>
                <a:gridCol w="467388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 (what it measures)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Life cycle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tenure_days – how long the account has existed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Life cycle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time_to_first_deposit – how fast a player first funds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Engagement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total_logins – overall activity level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Engagement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login_rate – sustained habit (logins per month)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Value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total_deposits / total_withdrawals – money in / money out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Value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net_deposits – net money position (signed)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Behaviour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turnover-to-deposit ratio – betting velocity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Behaviour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withdrawal_ratio – how much is cashed out vs staked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94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Behaviour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bets_per_login – depth of each session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" name="TextBox 7"/>
          <p:cNvSpPr/>
          <p:nvPr/>
        </p:nvSpPr>
        <p:spPr>
          <a:xfrm>
            <a:off x="7955280" y="1874520"/>
            <a:ext cx="3748680" cy="13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43 derived features in total (features/feature_dictionary.csv).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Only 10 kept for modelling – the rest are aliases, too-missing, or not actionable.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ratios are not time-normalised; rates are per month – both documented.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90" name="TextBox 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91" name="TextBox 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6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3 · Shape the numbers so the model stays fair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94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Distribution · Scaling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457200" y="1188720"/>
            <a:ext cx="5851800" cy="20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The problem: a £100,000 depositor makes a £100 depositor look identical – raw numbers are unfairly heavy-tailed.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Compress the tails: log-transform money &amp; activity so a “big” and a “small” player are compared on a fair scale (safe for zeros, invertible).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Standardize: after compression, rescale every measurement so none dominates the grouping by sheer unit size.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Filter to complete records: 59,922 players with every measurement present were used; the other 40,078 lack too much data to judge.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97" name="Rectangle 6"/>
          <p:cNvSpPr/>
          <p:nvPr/>
        </p:nvSpPr>
        <p:spPr>
          <a:xfrm>
            <a:off x="6583680" y="1188720"/>
            <a:ext cx="5120280" cy="49374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7"/>
          <p:cNvSpPr/>
          <p:nvPr/>
        </p:nvSpPr>
        <p:spPr>
          <a:xfrm>
            <a:off x="6766560" y="132588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f3864"/>
                </a:solidFill>
                <a:latin typeface="Calibri"/>
              </a:rPr>
              <a:t>Technical: transforms applied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6766560" y="1737360"/>
            <a:ext cx="4754520" cy="177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log1p(x)=ln(1+x) for non-negative; slog1p=sign(x)·ln(1+|x|) when negatives exist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Rule: transform when Fisher skew &gt; 3; keep otherwise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e.g. deposits 24.1 → 0.6 · turnover ratio 49.5 → 0.3 · withdrawals 26.6 → 1.0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z-score (StandardScaler): mean 0, std 1 on the same 59,922 matrix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All transforms reversible → clusters can be read back in £/days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7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4 · Build the grouping – K-Means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Modelling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457200" y="1143000"/>
            <a:ext cx="6766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Plain language: K-Means “finds 6 natural groups” so that players inside a group are alike and groups differ from each other – like sorting customers by “who behaves like whom”.</a:t>
            </a:r>
            <a:endParaRPr b="0" lang="en-GB" sz="1400" spc="-1" strike="noStrike">
              <a:latin typeface="Arial"/>
            </a:endParaRPr>
          </a:p>
        </p:txBody>
      </p:sp>
      <p:pic>
        <p:nvPicPr>
          <p:cNvPr id="107" name="Picture 6" descr="kmeans_elbow.png"/>
          <p:cNvPicPr/>
          <p:nvPr/>
        </p:nvPicPr>
        <p:blipFill>
          <a:blip r:embed="rId1"/>
          <a:stretch/>
        </p:blipFill>
        <p:spPr>
          <a:xfrm>
            <a:off x="457200" y="1800000"/>
            <a:ext cx="6701040" cy="270000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7" descr="kmeans_silhouette.png"/>
          <p:cNvPicPr/>
          <p:nvPr/>
        </p:nvPicPr>
        <p:blipFill>
          <a:blip r:embed="rId2"/>
          <a:stretch/>
        </p:blipFill>
        <p:spPr>
          <a:xfrm>
            <a:off x="7682760" y="1800000"/>
            <a:ext cx="4197240" cy="2789640"/>
          </a:xfrm>
          <a:prstGeom prst="rect">
            <a:avLst/>
          </a:prstGeom>
          <a:ln w="0">
            <a:noFill/>
          </a:ln>
        </p:spPr>
      </p:pic>
      <p:sp>
        <p:nvSpPr>
          <p:cNvPr id="109" name="TextBox 8"/>
          <p:cNvSpPr/>
          <p:nvPr/>
        </p:nvSpPr>
        <p:spPr>
          <a:xfrm>
            <a:off x="457200" y="4754880"/>
            <a:ext cx="11246760" cy="8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Tried k = 2…10. k = 2, 3 and 5 score almost identically (silhouette 0.267 / 0.266 / 0.263).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6 groups – six genuinely actionable segments (silhouette 0.234).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8a8a8a"/>
                </a:solidFill>
                <a:latin typeface="Calibri"/>
              </a:rPr>
              <a:t>Technical: inertia + silhouette + Davies-Bouldin curves evaluated; n_init=10, deterministic seed; metrics in kmeans_metrics.csv.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8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2"/>
          <p:cNvSpPr/>
          <p:nvPr/>
        </p:nvSpPr>
        <p:spPr>
          <a:xfrm>
            <a:off x="457200" y="255960"/>
            <a:ext cx="932652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5 · We compared five grouping methods – then checked they hold up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Evaluation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457200" y="1143000"/>
            <a:ext cx="112467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Plain language: more sophisticated algorithms were tried (soft groups, tree structures, density-based). K-Means wins for practicality and, crucially, it is the most stable – rerunning it gives (almost) the same groups every time.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Stability = trust: if a model gives a different answer every run, you cannot build business rules on it. K-Means 0.996 vs GMM 0.804, Hierarchical 0.579.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117" name="Table 6"/>
          <p:cNvGraphicFramePr/>
          <p:nvPr/>
        </p:nvGraphicFramePr>
        <p:xfrm>
          <a:off x="425520" y="2024280"/>
          <a:ext cx="11246760" cy="1554120"/>
        </p:xfrm>
        <a:graphic>
          <a:graphicData uri="http://schemas.openxmlformats.org/drawingml/2006/table">
            <a:tbl>
              <a:tblPr/>
              <a:tblGrid>
                <a:gridCol w="3848040"/>
                <a:gridCol w="1035720"/>
                <a:gridCol w="1331640"/>
                <a:gridCol w="1479600"/>
                <a:gridCol w="1775520"/>
                <a:gridCol w="177624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 (fitted)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Groups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Noise pts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Silhouette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Davies-Bouldin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Stability (ARI)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K-Means, k=6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0.234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1.428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0.996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Gaussian Mixture, k=3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0.239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1.462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0.804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Hierarchical (Ward), k=4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0.228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1.513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0.579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DBSCAN, eps=1.0, min-samples=20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2,375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0.137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2.108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0.855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59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HDBSCAN, min-cluster=500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31,438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-0.142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4.062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0.640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8" name="Picture 7" descr="model_comparison.png"/>
          <p:cNvPicPr/>
          <p:nvPr/>
        </p:nvPicPr>
        <p:blipFill>
          <a:blip r:embed="rId1"/>
          <a:stretch/>
        </p:blipFill>
        <p:spPr>
          <a:xfrm>
            <a:off x="524880" y="3598920"/>
            <a:ext cx="9195120" cy="28810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9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The K-Means result: six player segments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 Groups</a:t>
            </a:r>
            <a:endParaRPr b="0" lang="en-GB" sz="1100" spc="-1" strike="noStrike">
              <a:latin typeface="Arial"/>
            </a:endParaRPr>
          </a:p>
        </p:txBody>
      </p:sp>
      <p:graphicFrame>
        <p:nvGraphicFramePr>
          <p:cNvPr id="125" name="Table 5"/>
          <p:cNvGraphicFramePr/>
          <p:nvPr/>
        </p:nvGraphicFramePr>
        <p:xfrm>
          <a:off x="1000080" y="1502280"/>
          <a:ext cx="5028840" cy="2578320"/>
        </p:xfrm>
        <a:graphic>
          <a:graphicData uri="http://schemas.openxmlformats.org/drawingml/2006/table">
            <a:tbl>
              <a:tblPr/>
              <a:tblGrid>
                <a:gridCol w="410400"/>
                <a:gridCol w="2668320"/>
                <a:gridCol w="923400"/>
                <a:gridCol w="102672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Segment name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Players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Steady Balanced Regulars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15.1%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9,078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Dormant / Lapsed Light Accounts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22.3%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13,366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High-Value VIP / Whales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18.0%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10,787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Casual Low-Stakes Winners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25.2%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15,122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High-Spend Net-Loss Gamers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13.6%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8,125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Loyal Slow-Converters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5.7%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3,444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26" name="Picture 6" descr="kmeans_3d_preview.png"/>
          <p:cNvPicPr/>
          <p:nvPr/>
        </p:nvPicPr>
        <p:blipFill>
          <a:blip r:embed="rId1"/>
          <a:stretch/>
        </p:blipFill>
        <p:spPr>
          <a:xfrm>
            <a:off x="7020000" y="938880"/>
            <a:ext cx="3650760" cy="3770280"/>
          </a:xfrm>
          <a:prstGeom prst="rect">
            <a:avLst/>
          </a:prstGeom>
          <a:ln w="0">
            <a:noFill/>
          </a:ln>
        </p:spPr>
      </p:pic>
      <p:sp>
        <p:nvSpPr>
          <p:cNvPr id="127" name="TextBox 8"/>
          <p:cNvSpPr/>
          <p:nvPr/>
        </p:nvSpPr>
        <p:spPr>
          <a:xfrm>
            <a:off x="411480" y="4709160"/>
            <a:ext cx="11338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No “noise” points – every profiled player belongs to exactly one segment (unlike HDBSCAN, which would leave 31k unassigned).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10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0 – Steady Balanced Regulars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15.1%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The dependable core – steady spenders who give more than they take, on an even keel.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457200" y="193860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Everyday loyalty and tier-progression; they respond to being rewarded for consistency, not to chase-the-bonus mechanics.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457200" y="3072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Upsell into the mid-tier and cross-sell between products; sources are balanced (Organic / Referral / Google).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41" name="TextBox 12"/>
          <p:cNvSpPr/>
          <p:nvPr/>
        </p:nvSpPr>
        <p:spPr>
          <a:xfrm>
            <a:off x="457200" y="4206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Baseline profit engine – healthy margin per deposited dollar (1.04 GGR/£1) with the lowest risk profile; ideal growth pool.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42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144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£280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£50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1,541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+£125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£218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101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Active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90%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Long-running loyalty is healthy, but 50% are already idle &gt;60 days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12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1 – Dormant / Lapsed Light Accounts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22.3%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Light-touch, faded-out accounts – they are around, but barely move.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457200" y="193860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Account hygiene first: merge/close duplicate and suspended accounts; archive truly stale profiles instead of paying to keep them.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57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457200" y="3072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Guarded win-back only – they have the 2nd-highest bonus-abuse rate (15.6%), so reactivation offers must carry strict terms.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457200" y="4206240"/>
            <a:ext cx="6949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Commercially negligible (0.1% of GGR) and costly through bonus leakage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163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£42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27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-£12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184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Bonus abuse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15.6%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4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87.7% sit in the NegativeValue profit segment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13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2 – High-Value VIP / Whales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18.0%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72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High-Value VIPs – the whales who fund the business (and deserve white-glove care).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457200" y="1938600"/>
            <a:ext cx="6949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Dedicated VIP manager, fast withdrawals, personal limits and bespoke journeys – not reload-bonus churn.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457200" y="3072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Premium acquisition matters: they arrive via Google/paid search – defend and scale that channel with dedicated creative.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79" name="TextBox 12"/>
          <p:cNvSpPr/>
          <p:nvPr/>
        </p:nvSpPr>
        <p:spPr>
          <a:xfrm>
            <a:off x="457200" y="4206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Strongest economics in the book – ~90% of total GGR – but the highest formal exit rate and self-exclusion; protect the player to protect the value.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80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182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£8,180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£5,328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45,351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413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+£2,121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£3,144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Self-excluded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7.0%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RG med/high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11.1%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3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Their GGR margin is lower (0.38) – they win more back. Priority is retention + RG monitoring, not volume.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85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14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3 – Casual Low-Stakes Winners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25.2%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91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Small-stakes, frequent small wins – the cleanest, cheapest segment to serve.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457200" y="193860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Light-touch engagement: leaderboards, in-account “winning” moments and safe cross-sell – zero deposit-bonus dependence.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457200" y="3072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Virtually no bonus abuse (1.3%) – keep them out of bonus churn; low-frequency, high-relevance comms beat volume.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457200" y="4206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Best margin per deposited dollar (1.28 GGR/£1) even at tiny stakes – the margin champion despite small ticket sizes.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99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201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£45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195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+£40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£60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208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Bonus abuse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1.3%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2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03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Biggest blind spot: 76% idle &gt;60 days – win-back / Day3 deposit reminders are the main lever here.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04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05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15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7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4 – High-Spend Net-Loss Gamers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08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13.6%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1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High spend, consistent net losses, and a red-flag behaviour profile – they cost the business money.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12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457200" y="1938600"/>
            <a:ext cx="6949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Restrict incentives: lower or remove bonus eligibility and impose wagering/velocity caps on this profile.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15" name="TextBox 10"/>
          <p:cNvSpPr/>
          <p:nvPr/>
        </p:nvSpPr>
        <p:spPr>
          <a:xfrm>
            <a:off x="457200" y="3072240"/>
            <a:ext cx="69490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Do not market them as VIPs; engage with loss-limit nudges and cooling-off prompts rather than offers.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16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457200" y="4206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The only segment with NEGATIVE GGR (-3.1% of total): they withdraw more than they deposit despite heavy betting – manage, don't grow.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18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220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£435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£670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1,875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85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-£150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-£7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Win rate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~100%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Bonus abuse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16.9%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1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22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93% sit in NegativeValue profit segment – this is a risk-management cohort, not a growth cohort.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23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24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16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Segment 5 – Loyal Slow-Converters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27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5.7% of players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29" name="Rectangle 5"/>
          <p:cNvSpPr/>
          <p:nvPr/>
        </p:nvSpPr>
        <p:spPr>
          <a:xfrm>
            <a:off x="457200" y="1024200"/>
            <a:ext cx="11246760" cy="45684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6"/>
          <p:cNvSpPr/>
          <p:nvPr/>
        </p:nvSpPr>
        <p:spPr>
          <a:xfrm>
            <a:off x="594360" y="1069920"/>
            <a:ext cx="109724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300" spc="-1" strike="noStrike">
                <a:solidFill>
                  <a:srgbClr val="1f3864"/>
                </a:solidFill>
                <a:latin typeface="Calibri"/>
              </a:rPr>
              <a:t>Loyal and careful – they stay for years but take their time before the first deposit.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31" name="TextBox 7"/>
          <p:cNvSpPr/>
          <p:nvPr/>
        </p:nvSpPr>
        <p:spPr>
          <a:xfrm>
            <a:off x="457200" y="1627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Product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32" name="TextBox 8"/>
          <p:cNvSpPr/>
          <p:nvPr/>
        </p:nvSpPr>
        <p:spPr>
          <a:xfrm>
            <a:off x="457200" y="193860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Fix the onboarding journey: median 74 days from registration to first deposit – a welcome funnel with structured first-deposit offers.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33" name="TextBox 9"/>
          <p:cNvSpPr/>
          <p:nvPr/>
        </p:nvSpPr>
        <p:spPr>
          <a:xfrm>
            <a:off x="457200" y="276156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Marketing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34" name="TextBox 10"/>
          <p:cNvSpPr/>
          <p:nvPr/>
        </p:nvSpPr>
        <p:spPr>
          <a:xfrm>
            <a:off x="457200" y="3072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Google + Facebook driven (38% + 14%) – A/B the sign-up-to-deposit funnel there; highest MFA adoption (3.6%) = cautious, trust first.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457200" y="3895200"/>
            <a:ext cx="6949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Business 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36" name="TextBox 12"/>
          <p:cNvSpPr/>
          <p:nvPr/>
        </p:nvSpPr>
        <p:spPr>
          <a:xfrm>
            <a:off x="457200" y="4206240"/>
            <a:ext cx="69490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Longest tenure (369 d) and consistently positive net position – converting them earlier lifts lifetime value materially.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37" name="Rectangle 13"/>
          <p:cNvSpPr/>
          <p:nvPr/>
        </p:nvSpPr>
        <p:spPr>
          <a:xfrm>
            <a:off x="7635240" y="1627560"/>
            <a:ext cx="4068720" cy="397728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14"/>
          <p:cNvSpPr/>
          <p:nvPr/>
        </p:nvSpPr>
        <p:spPr>
          <a:xfrm>
            <a:off x="7818120" y="1719000"/>
            <a:ext cx="3657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Key numbers (median)</a:t>
            </a:r>
            <a:endParaRPr b="0" lang="en-GB" sz="1300" spc="-1" strike="noStrike">
              <a:latin typeface="Arial"/>
            </a:endParaRPr>
          </a:p>
        </p:txBody>
      </p:sp>
      <p:graphicFrame>
        <p:nvGraphicFramePr>
          <p:cNvPr id="239" name="Table 15"/>
          <p:cNvGraphicFramePr/>
          <p:nvPr/>
        </p:nvGraphicFramePr>
        <p:xfrm>
          <a:off x="7818120" y="2084760"/>
          <a:ext cx="3702960" cy="2468520"/>
        </p:xfrm>
        <a:graphic>
          <a:graphicData uri="http://schemas.openxmlformats.org/drawingml/2006/table">
            <a:tbl>
              <a:tblPr/>
              <a:tblGrid>
                <a:gridCol w="2262960"/>
                <a:gridCol w="144000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Deposits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£596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Withdrawals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£248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Bets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3,196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115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Net position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+£145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£285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369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First deposit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74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0" name="TextBox 16"/>
          <p:cNvSpPr/>
          <p:nvPr/>
        </p:nvSpPr>
        <p:spPr>
          <a:xfrm>
            <a:off x="457200" y="544068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00000"/>
                </a:solidFill>
                <a:latin typeface="Calibri"/>
              </a:rPr>
              <a:t>Watch out: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457200" y="5715000"/>
            <a:ext cx="11246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Small cohort by share (5.7%) but the slow-conversion gap is the single most fixable leak in the journey.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3" name="TextBox 1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17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2"/>
          <p:cNvSpPr/>
          <p:nvPr/>
        </p:nvSpPr>
        <p:spPr>
          <a:xfrm>
            <a:off x="457200" y="255960"/>
            <a:ext cx="932652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Step 6 · Do the clusters actually differ?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46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7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Business validation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457200" y="1143000"/>
            <a:ext cx="1124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Yes – and not by a little. The table shows the metrics that matter, per segment.</a:t>
            </a:r>
            <a:endParaRPr b="0" lang="en-GB" sz="1400" spc="-1" strike="noStrike">
              <a:latin typeface="Arial"/>
            </a:endParaRPr>
          </a:p>
        </p:txBody>
      </p:sp>
      <p:graphicFrame>
        <p:nvGraphicFramePr>
          <p:cNvPr id="249" name="Table 6"/>
          <p:cNvGraphicFramePr/>
          <p:nvPr/>
        </p:nvGraphicFramePr>
        <p:xfrm>
          <a:off x="457200" y="1783080"/>
          <a:ext cx="11246760" cy="3401280"/>
        </p:xfrm>
        <a:graphic>
          <a:graphicData uri="http://schemas.openxmlformats.org/drawingml/2006/table">
            <a:tbl>
              <a:tblPr/>
              <a:tblGrid>
                <a:gridCol w="3285360"/>
                <a:gridCol w="1137240"/>
                <a:gridCol w="1263600"/>
                <a:gridCol w="1389960"/>
                <a:gridCol w="1389960"/>
                <a:gridCol w="1516320"/>
                <a:gridCol w="126432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 Reg.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C1 Dorm.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C2 Whales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C3 Casual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C4 Net-Loss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C5 Slow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Median 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£218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£3,144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£60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-£7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£285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Share of total GGR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3.9%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0.1%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89.8%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3.0%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-3.1%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6.4%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GGR per £1 deposit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1.04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0.12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0.38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1.28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-0.02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0.70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Active span (median)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101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184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331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208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179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369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Formal churn/Self-excl.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7.8%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6.0%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16.7%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12.2%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8.9%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10.2%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Idle &gt;60 days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72%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63%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76%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60%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65%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Bonus dependency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5.4%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15.6%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4.7%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1.3%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16.9%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5.9%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Tenure (median)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101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184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331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208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179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369 d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Logins (median)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52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413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85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115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0" name="TextBox 7"/>
          <p:cNvSpPr/>
          <p:nvPr/>
        </p:nvSpPr>
        <p:spPr>
          <a:xfrm>
            <a:off x="457200" y="5669280"/>
            <a:ext cx="11246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A ~1,000× gap in GGR between segments (C2 £3,144 vs C1 £4) – commercial difference is extreme.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Type of churn differs too: Whales leave formally (self-exclusion/timeout), Casual players just fade away.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51" name="TextBox 8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2" name="TextBox 9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17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What can be done differently (recommendations)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55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Actions</a:t>
            </a:r>
            <a:endParaRPr b="0" lang="en-GB" sz="1100" spc="-1" strike="noStrike">
              <a:latin typeface="Arial"/>
            </a:endParaRPr>
          </a:p>
        </p:txBody>
      </p:sp>
      <p:graphicFrame>
        <p:nvGraphicFramePr>
          <p:cNvPr id="257" name="Table 5"/>
          <p:cNvGraphicFramePr/>
          <p:nvPr/>
        </p:nvGraphicFramePr>
        <p:xfrm>
          <a:off x="457200" y="1371600"/>
          <a:ext cx="11246760" cy="2578320"/>
        </p:xfrm>
        <a:graphic>
          <a:graphicData uri="http://schemas.openxmlformats.org/drawingml/2006/table">
            <a:tbl>
              <a:tblPr/>
              <a:tblGrid>
                <a:gridCol w="505440"/>
                <a:gridCol w="4549320"/>
                <a:gridCol w="2400840"/>
                <a:gridCol w="379116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 segment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Why first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Protect &amp; safeguard – VIP manager, RG monitoring, self-limit offers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C2 Whales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~90% of GGR at risk; exit 16.7%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Restrict bonuses + loss-limit nudges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C4 Net-Loss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Only negative-GGR cohort; highest abuse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Clean-up + guard-railed win-back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C1 Dormant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Lowest effort, stops abuse leakage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Tier-progression &amp; cross-sell program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C0 Regulars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Healthy core, cheapest to grow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Optimise onboarding / first-deposit funnel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C5 Slow-Converters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74-day first-deposit gap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Light-touch engagement mechanics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C3 Casual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Large base, margin-first growth</a:t>
                      </a:r>
                      <a:endParaRPr b="0" lang="en-GB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8" name="TextBox 6"/>
          <p:cNvSpPr/>
          <p:nvPr/>
        </p:nvSpPr>
        <p:spPr>
          <a:xfrm>
            <a:off x="457200" y="4572000"/>
            <a:ext cx="112467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262626"/>
                </a:solidFill>
                <a:latin typeface="Calibri"/>
              </a:rPr>
              <a:t>Cross-cutting: segment-specific incentives only (no one-size bonuses), cluster labels into the CRM/CDP, governed A/B tests before full rollout, RG thresholds tuned per segment spend-band.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60" name="TextBox 8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18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Caveats – what this model is NOT claiming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63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Limitations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457200" y="1188720"/>
            <a:ext cx="11246760" cy="16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40,078 players (40%) had too much missing data to profile – they have no cluster label. That means “not assessed for modelling”, NOT “low value”.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Hierarchical and DBSCAN were fitted on subsamples (6k / 15k players) for computing reasons – their segment boundaries depend on that sample.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Many risk/abuse booleans were never recorded (e.g. bonus abuse recorded for only ~6% of players) – flagged as “unknown”, never assumed clean.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With 59,922 rows, significance tests are trivially “significant” – we therefore relied on effect sizes and stability, not just p-values.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01"/>
              </a:spcAft>
            </a:pPr>
            <a:r>
              <a:rPr b="1" lang="en-US" sz="14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62626"/>
                </a:solidFill>
                <a:latin typeface="Calibri"/>
              </a:rPr>
              <a:t>Recommendations are hypotheses. Validate each with segment-targeted A/B tests before full rollout.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66" name="TextBox 6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67" name="TextBox 7"/>
          <p:cNvSpPr/>
          <p:nvPr/>
        </p:nvSpPr>
        <p:spPr>
          <a:xfrm>
            <a:off x="11430000" y="65106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000" spc="-1" strike="noStrike">
                <a:solidFill>
                  <a:srgbClr val="8a8a8a"/>
                </a:solidFill>
                <a:latin typeface="Calibri"/>
              </a:rPr>
              <a:t>19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38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TextBox 2"/>
          <p:cNvSpPr/>
          <p:nvPr/>
        </p:nvSpPr>
        <p:spPr>
          <a:xfrm>
            <a:off x="457200" y="255960"/>
            <a:ext cx="9326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1f3864"/>
                </a:solidFill>
                <a:latin typeface="Calibri"/>
              </a:rPr>
              <a:t>Appendix – technical details</a:t>
            </a:r>
            <a:endParaRPr b="0" lang="en-GB" sz="2800" spc="-1" strike="noStrike">
              <a:latin typeface="Arial"/>
            </a:endParaRPr>
          </a:p>
        </p:txBody>
      </p:sp>
      <p:sp>
        <p:nvSpPr>
          <p:cNvPr id="270" name="Rectangle 3"/>
          <p:cNvSpPr/>
          <p:nvPr/>
        </p:nvSpPr>
        <p:spPr>
          <a:xfrm>
            <a:off x="9509760" y="384120"/>
            <a:ext cx="2285640" cy="383760"/>
          </a:xfrm>
          <a:prstGeom prst="rect">
            <a:avLst/>
          </a:prstGeom>
          <a:solidFill>
            <a:srgbClr val="bf8f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4"/>
          <p:cNvSpPr/>
          <p:nvPr/>
        </p:nvSpPr>
        <p:spPr>
          <a:xfrm>
            <a:off x="9509760" y="420480"/>
            <a:ext cx="22856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For the data team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457200" y="1143000"/>
            <a:ext cx="1124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f3864"/>
                </a:solidFill>
                <a:latin typeface="Calibri"/>
              </a:rPr>
              <a:t>Stability of the deployed models (mean over 10 pairwise runs)</a:t>
            </a:r>
            <a:endParaRPr b="0" lang="en-GB" sz="1400" spc="-1" strike="noStrike">
              <a:latin typeface="Arial"/>
            </a:endParaRPr>
          </a:p>
        </p:txBody>
      </p:sp>
      <p:graphicFrame>
        <p:nvGraphicFramePr>
          <p:cNvPr id="273" name="Table 6"/>
          <p:cNvGraphicFramePr/>
          <p:nvPr/>
        </p:nvGraphicFramePr>
        <p:xfrm>
          <a:off x="457200" y="1554480"/>
          <a:ext cx="7223400" cy="1919880"/>
        </p:xfrm>
        <a:graphic>
          <a:graphicData uri="http://schemas.openxmlformats.org/drawingml/2006/table">
            <a:tbl>
              <a:tblPr/>
              <a:tblGrid>
                <a:gridCol w="2124360"/>
                <a:gridCol w="1911960"/>
                <a:gridCol w="849600"/>
                <a:gridCol w="743400"/>
                <a:gridCol w="849600"/>
                <a:gridCol w="744480"/>
              </a:tblGrid>
              <a:tr h="2743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Perturbation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ARI mean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ARI ±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NMI mean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NMI ±</a:t>
                      </a:r>
                      <a:endParaRPr b="0" lang="en-GB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K-Means (k=6)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random seeds, full data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0.996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0.002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0.993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0.003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Gaussian Mixture (k=3)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random seeds, full data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0.804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0.240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0.834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0.204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Hierarchical (Ward)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 draws, n=6,000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0.579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0.119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0.595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0.077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DBSCAN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 draws, n=15,000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0.855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0.015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0.710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0.023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29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HDBSCAN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5 draws, n=30,000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0.640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0.201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0.698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0.101</a:t>
                      </a:r>
                      <a:endParaRPr b="0" lang="en-GB" sz="9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4" name="TextBox 7"/>
          <p:cNvSpPr/>
          <p:nvPr/>
        </p:nvSpPr>
        <p:spPr>
          <a:xfrm>
            <a:off x="7955280" y="1143000"/>
            <a:ext cx="37486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f3864"/>
                </a:solidFill>
                <a:latin typeface="Calibri"/>
              </a:rPr>
              <a:t>Distances used by each algorithm (see distance_measures.md)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75" name="TextBox 8"/>
          <p:cNvSpPr/>
          <p:nvPr/>
        </p:nvSpPr>
        <p:spPr>
          <a:xfrm>
            <a:off x="7955280" y="1600200"/>
            <a:ext cx="374868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62626"/>
                </a:solidFill>
                <a:latin typeface="Calibri"/>
              </a:rPr>
              <a:t>K-Means – Euclidean (squared)</a:t>
            </a:r>
            <a:endParaRPr b="0" lang="en-GB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62626"/>
                </a:solidFill>
                <a:latin typeface="Calibri"/>
              </a:rPr>
              <a:t>GMM – Mahalanobis (per-cluster covariance)</a:t>
            </a:r>
            <a:endParaRPr b="0" lang="en-GB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62626"/>
                </a:solidFill>
                <a:latin typeface="Calibri"/>
              </a:rPr>
              <a:t>Hierarchical – Ward (ESS increase)</a:t>
            </a:r>
            <a:endParaRPr b="0" lang="en-GB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62626"/>
                </a:solidFill>
                <a:latin typeface="Calibri"/>
              </a:rPr>
              <a:t>DBSCAN – core-distance reachability</a:t>
            </a:r>
            <a:endParaRPr b="0" lang="en-GB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262626"/>
                </a:solidFill>
                <a:latin typeface="Calibri"/>
              </a:rPr>
              <a:t>HDBSCAN – mutual reachability distance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76" name="TextBox 9"/>
          <p:cNvSpPr/>
          <p:nvPr/>
        </p:nvSpPr>
        <p:spPr>
          <a:xfrm>
            <a:off x="453240" y="4557240"/>
            <a:ext cx="112467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f3864"/>
                </a:solidFill>
                <a:latin typeface="Calibri"/>
              </a:rPr>
              <a:t>Data flow and files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77" name="TextBox 10"/>
          <p:cNvSpPr/>
          <p:nvPr/>
        </p:nvSpPr>
        <p:spPr>
          <a:xfrm>
            <a:off x="453240" y="4970160"/>
            <a:ext cx="11246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raw CSV (100,000×77) → EDA → 43 derived features → 10 features, log/z-scored → 59,922 complete-case matrix (feature_matrix_11_complete.csv).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All 5 models fit on the same matrix; labels per model in *_assignments.csv; cluster-labelled raw data in master_dataset_clusters.csv.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bf8f0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62626"/>
                </a:solidFill>
                <a:latin typeface="Calibri"/>
              </a:rPr>
              <a:t>Viz: PCA scatters (2D 58.5% / 3D 70.2% explained variance, viz-only), 3D rotating GIFs, elbow/silhouette/dendrogram/AIC-BIC, model &amp; stability comparison charts.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78" name="TextBox 12"/>
          <p:cNvSpPr/>
          <p:nvPr/>
        </p:nvSpPr>
        <p:spPr>
          <a:xfrm>
            <a:off x="457200" y="651060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8a8a8a"/>
                </a:solidFill>
                <a:latin typeface="Calibri"/>
              </a:rPr>
              <a:t>Betty_v1 · Player Segmentation — data science walkthrough</a:t>
            </a:r>
            <a:endParaRPr b="0" lang="en-GB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LibreOffice/7.4.1.2$Windows_X86_64 LibreOffice_project/3c58a8f3a960df8bc8fd77b461821e42c061c5f0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2026-10-09T16:13:19Z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